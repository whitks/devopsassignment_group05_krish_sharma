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983480"/>
            <a:ext cx="14173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93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D2B4"/>
                </a:solidFill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0552" y="5056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983480"/>
            <a:ext cx="14173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5093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D2B4"/>
                </a:solidFill>
              </a:defRPr>
            </a:pPr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5056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983480"/>
            <a:ext cx="14173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5093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D2B4"/>
                </a:solidFill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5056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4983480"/>
            <a:ext cx="14173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5093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D2B4"/>
                </a:solidFill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5056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983480"/>
            <a:ext cx="14173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5093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D2B4"/>
                </a:solidFill>
              </a:defRPr>
            </a:pPr>
            <a: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8632" y="50566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4983480"/>
            <a:ext cx="1417320" cy="5029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509320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7D2B4"/>
                </a:solidFill>
              </a:defRPr>
            </a:pPr>
            <a:r>
              <a:t>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914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D2B4"/>
                </a:solidFill>
              </a:defRPr>
            </a:pPr>
            <a:r>
              <a:t>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600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5FA"/>
                </a:solidFill>
              </a:defRPr>
            </a:pPr>
            <a: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6060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AAB9CD"/>
                </a:solidFill>
              </a:defRPr>
            </a:pPr>
            <a:r>
              <a:t>From writing code to reliable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91FF"/>
                </a:solidFill>
              </a:defRPr>
            </a:pPr>
            <a:r>
              <a:t>B.Tech CSE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What is DevOps?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1554480"/>
            <a:ext cx="3246120" cy="292608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187451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7D2B4"/>
                </a:solidFill>
              </a:defRPr>
            </a:pPr>
            <a:r>
              <a:t>DEV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514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154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9CD"/>
                </a:solidFill>
              </a:defRPr>
            </a:pPr>
            <a:r>
              <a:t>Code • Build •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1554480"/>
            <a:ext cx="3246120" cy="292608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187451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691FF"/>
                </a:solidFill>
              </a:defRPr>
            </a:pPr>
            <a:r>
              <a:t>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514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154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9CD"/>
                </a:solidFill>
              </a:defRPr>
            </a:pPr>
            <a:r>
              <a:t>Deploy • Run • Monitor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1554480"/>
            <a:ext cx="3246120" cy="292608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1874519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7D2B4"/>
                </a:solidFill>
              </a:defRPr>
            </a:pPr>
            <a:r>
              <a:t>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514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DevOps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154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9CD"/>
                </a:solidFill>
              </a:defRPr>
            </a:pPr>
            <a:r>
              <a:t>Collaboration +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Development in the DevOps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67128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7128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31336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1336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95544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5544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59752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59752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Release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88168" y="2377440"/>
            <a:ext cx="1234440" cy="91440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88168" y="26517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9CD"/>
                </a:solidFill>
              </a:defRPr>
            </a:pPr>
            <a:r>
              <a:t>Development connects coding with automation, testing and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Role of a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150876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16916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D2B4"/>
                </a:solidFill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1947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5FA"/>
                </a:solidFill>
              </a:defRPr>
            </a:pPr>
            <a:r>
              <a:t>Write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50876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16916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D2B4"/>
                </a:solidFill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1947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5FA"/>
                </a:solidFill>
              </a:defRPr>
            </a:pPr>
            <a:r>
              <a:t>Use Git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50876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6916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D2B4"/>
                </a:solidFill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194767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5FA"/>
                </a:solidFill>
              </a:defRPr>
            </a:pPr>
            <a:r>
              <a:t>Automate Tests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47472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D2B4"/>
                </a:solidFill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9136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5FA"/>
                </a:solidFill>
              </a:defRPr>
            </a:pPr>
            <a:r>
              <a:t>Review &amp; Fix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347472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D2B4"/>
                </a:solidFill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39136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0F5FA"/>
                </a:solidFill>
              </a:defRPr>
            </a:pPr>
            <a:r>
              <a:t>Collaborate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Git &amp; GitHub – Version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417320"/>
            <a:ext cx="3657600" cy="4389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AB9CD"/>
                </a:solidFill>
              </a:defRPr>
            </a:pPr>
            <a:r>
              <a:t>LOCAL REPOSITORY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2423160"/>
            <a:ext cx="2834640" cy="50292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25420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Working Tree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3246120"/>
            <a:ext cx="2834640" cy="50292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36499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Commit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69080"/>
            <a:ext cx="2834640" cy="50292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1879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Branch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24612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1417320"/>
            <a:ext cx="6126480" cy="4389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17830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AB9CD"/>
                </a:solidFill>
              </a:defRPr>
            </a:pPr>
            <a:r>
              <a:t>GITHUB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80" y="2743200"/>
            <a:ext cx="1051560" cy="59436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0448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5FA"/>
                </a:solidFill>
              </a:defRPr>
            </a:pPr>
            <a:r>
              <a:t>Push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96328" y="2743200"/>
            <a:ext cx="1051560" cy="59436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5FA"/>
                </a:solidFill>
              </a:defRPr>
            </a:pPr>
            <a:r>
              <a:t>Pull Request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94776" y="2743200"/>
            <a:ext cx="1051560" cy="59436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67344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5FA"/>
                </a:solidFill>
              </a:defRPr>
            </a:pPr>
            <a:r>
              <a:t>Code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93224" y="2743200"/>
            <a:ext cx="1051560" cy="59436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5792" y="28895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5FA"/>
                </a:solidFill>
              </a:defRPr>
            </a:pPr>
            <a:r>
              <a:t>Merge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CI/CD – Continuous Integration &amp;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148840"/>
            <a:ext cx="1600200" cy="123444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2468880"/>
            <a:ext cx="1453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5FA"/>
                </a:solidFill>
              </a:defRPr>
            </a:pPr>
            <a:r>
              <a:t>Developer</a:t>
            </a:r>
            <a:br/>
            <a:r>
              <a:t>Pushes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2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62072" y="2148840"/>
            <a:ext cx="1600200" cy="123444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35224" y="2468880"/>
            <a:ext cx="1453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5FA"/>
                </a:solidFill>
              </a:defRPr>
            </a:pPr>
            <a:r>
              <a:t>CI</a:t>
            </a:r>
            <a:br/>
            <a: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9784" y="2148840"/>
            <a:ext cx="1600200" cy="123444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2936" y="2468880"/>
            <a:ext cx="1453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5FA"/>
                </a:solidFill>
              </a:defRPr>
            </a:pPr>
            <a:r>
              <a:t>Automated</a:t>
            </a:r>
            <a:br/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7416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97496" y="2148840"/>
            <a:ext cx="1600200" cy="123444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2468880"/>
            <a:ext cx="1453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5FA"/>
                </a:solidFill>
              </a:defRPr>
            </a:pPr>
            <a:r>
              <a:t>CD</a:t>
            </a:r>
            <a:br/>
            <a:r>
              <a:t>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65208" y="2148840"/>
            <a:ext cx="1600200" cy="123444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2468880"/>
            <a:ext cx="1453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5FA"/>
                </a:solidFill>
              </a:defRPr>
            </a:pPr>
            <a:r>
              <a:t>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9CD"/>
                </a:solidFill>
              </a:defRPr>
            </a:pPr>
            <a:r>
              <a:t>Automation reduces manual errors and provides fast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Testing &amp; Code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600200"/>
            <a:ext cx="3246120" cy="3246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05740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7D2B4"/>
                </a:solidFill>
              </a:defRPr>
            </a:pPr>
            <a:r>
              <a:t>Unit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9CD"/>
                </a:solidFill>
              </a:defRPr>
            </a:pPr>
            <a:r>
              <a:t>Checks individual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794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0690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3434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1600200"/>
            <a:ext cx="3246120" cy="3246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05740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691FF"/>
                </a:solidFill>
              </a:defRPr>
            </a:pPr>
            <a:r>
              <a:t>Integration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9CD"/>
                </a:solidFill>
              </a:defRPr>
            </a:pPr>
            <a:r>
              <a:t>Checks components together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794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0690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43434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1600200"/>
            <a:ext cx="3246120" cy="3246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205740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691FF"/>
                </a:solidFill>
              </a:defRPr>
            </a:pPr>
            <a:r>
              <a:t>Quality Scan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9CD"/>
                </a:solidFill>
              </a:defRPr>
            </a:pPr>
            <a:r>
              <a:t>Finds bugs &amp; vulnerabilities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7947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0690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3434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5FA"/>
                </a:solidFill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Docker &amp; Containerization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1463040"/>
            <a:ext cx="4754880" cy="429768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18288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AB9CD"/>
                </a:solidFill>
              </a:defRPr>
            </a:pPr>
            <a:r>
              <a:t>APPLICATION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2423160"/>
            <a:ext cx="3657600" cy="438912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25237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5FA"/>
                </a:solidFill>
              </a:defRPr>
            </a:pPr>
            <a:r>
              <a:t>App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3063239"/>
            <a:ext cx="3657600" cy="438912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31638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5FA"/>
                </a:solidFill>
              </a:defRPr>
            </a:pPr>
            <a:r>
              <a:t>Libraries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3703320"/>
            <a:ext cx="3657600" cy="438912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38039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5FA"/>
                </a:solidFill>
              </a:defRPr>
            </a:pPr>
            <a:r>
              <a:t>Dependencies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343400"/>
            <a:ext cx="3657600" cy="438912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4439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5FA"/>
                </a:solidFill>
              </a:defRPr>
            </a:pPr>
            <a:r>
              <a:t>Configuration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200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7D2B4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1463040"/>
            <a:ext cx="5120640" cy="429768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AB9CD"/>
                </a:solidFill>
              </a:defRPr>
            </a:pPr>
            <a:r>
              <a:t>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7432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Same application</a:t>
            </a:r>
            <a:br/>
            <a:r>
              <a:t>+ dependencies</a:t>
            </a:r>
            <a:br/>
            <a:r>
              <a:t>= consistent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Deployment &amp;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737360"/>
            <a:ext cx="3291840" cy="2560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91FF"/>
                </a:solidFill>
              </a:defRPr>
            </a:pPr>
            <a: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9CD"/>
                </a:solidFill>
              </a:defRPr>
            </a:pPr>
            <a:r>
              <a:t>Release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2743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1737360"/>
            <a:ext cx="3291840" cy="2560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91FF"/>
                </a:solidFill>
              </a:defRPr>
            </a:pPr>
            <a:r>
              <a:t>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9CD"/>
                </a:solidFill>
              </a:defRPr>
            </a:pPr>
            <a:r>
              <a:t>Application serves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743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1737360"/>
            <a:ext cx="3291840" cy="2560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7D2B4"/>
                </a:solidFill>
              </a:defRPr>
            </a:pPr>
            <a:r>
              <a:t>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971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B9CD"/>
                </a:solidFill>
              </a:defRPr>
            </a:pPr>
            <a:r>
              <a:t>Logs • Metrics •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Benefits of DevOps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146304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7D2B4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5FA"/>
                </a:solidFill>
              </a:defRPr>
            </a:pPr>
            <a:r>
              <a:t>Faster Releases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46304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7D2B4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5FA"/>
                </a:solidFill>
              </a:defRPr>
            </a:pPr>
            <a:r>
              <a:t>Better Collaboration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46304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7D2B4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5FA"/>
                </a:solidFill>
              </a:defRPr>
            </a:pPr>
            <a:r>
              <a:t>Early Bug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52044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7D2B4"/>
                </a:solidFill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5FA"/>
                </a:solidFill>
              </a:defRPr>
            </a:pPr>
            <a:r>
              <a:t>Reliable Deployments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352044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7D2B4"/>
                </a:solidFill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5FA"/>
                </a:solidFill>
              </a:defRPr>
            </a:pPr>
            <a:r>
              <a:t>Less Manual 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3520440"/>
            <a:ext cx="3246120" cy="14173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7D2B4"/>
                </a:solidFill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F5FA"/>
                </a:solidFill>
              </a:defRPr>
            </a:pPr>
            <a:r>
              <a:t>Continuous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A Simple DevOps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D2B4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468880"/>
            <a:ext cx="1508760" cy="960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7706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5FA"/>
                </a:solidFill>
              </a:defRPr>
            </a:pPr>
            <a:r>
              <a:t>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7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3784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D2B4"/>
                </a:solidFill>
              </a:defRPr>
            </a:pPr>
            <a: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04872" y="2468880"/>
            <a:ext cx="1508760" cy="960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04872" y="27706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5FA"/>
                </a:solidFill>
              </a:defRPr>
            </a:pPr>
            <a:r>
              <a:t>Commit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5736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D2B4"/>
                </a:solidFill>
              </a:defRPr>
            </a:pPr>
            <a: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06824" y="2468880"/>
            <a:ext cx="1508760" cy="960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06824" y="27706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5FA"/>
                </a:solidFill>
              </a:defRPr>
            </a:pPr>
            <a:r>
              <a:t>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D2B4"/>
                </a:solidFill>
              </a:defRPr>
            </a:pPr>
            <a: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8776" y="2468880"/>
            <a:ext cx="1508760" cy="960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7706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5FA"/>
                </a:solidFill>
              </a:defRPr>
            </a:pPr>
            <a: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D2B4"/>
                </a:solidFill>
              </a:defRPr>
            </a:pPr>
            <a:r>
              <a:t>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0728" y="2468880"/>
            <a:ext cx="1508760" cy="960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0728" y="27706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5FA"/>
                </a:solidFill>
              </a:defRPr>
            </a:pPr>
            <a: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7776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B9CD"/>
                </a:solidFill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1592" y="1828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7D2B4"/>
                </a:solidFill>
              </a:defRPr>
            </a:pPr>
            <a: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12680" y="2468880"/>
            <a:ext cx="1508760" cy="96012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27706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5FA"/>
                </a:solidFill>
              </a:defRPr>
            </a:pPr>
            <a:r>
              <a:t>Monitor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57200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9CD"/>
                </a:solidFill>
              </a:defRPr>
            </a:pPr>
            <a:r>
              <a:t>Feedback from monitoring goes back into development.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121E30"/>
          </a:solidFill>
          <a:ln>
            <a:solidFill>
              <a:srgbClr val="12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5FA"/>
                </a:solidFill>
              </a:defRPr>
            </a:pPr>
            <a: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438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AAB9CD"/>
                </a:solidFill>
              </a:defRPr>
            </a:pPr>
            <a:r>
              <a:t>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1417320"/>
            <a:ext cx="10149840" cy="4206240"/>
          </a:xfrm>
          <a:prstGeom prst="roundRect">
            <a:avLst/>
          </a:prstGeom>
          <a:solidFill>
            <a:srgbClr val="142034"/>
          </a:solidFill>
          <a:ln>
            <a:solidFill>
              <a:srgbClr val="142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9659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37D2B4"/>
                </a:solidFill>
              </a:defRPr>
            </a:pPr>
            <a:r>
              <a:t>Development is the engine of DevOps.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297180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5FA"/>
                </a:solidFill>
              </a:defRPr>
            </a:pPr>
            <a:r>
              <a:t>Code + Git + CI/CD + Testing + Containers</a:t>
            </a:r>
            <a:br/>
            <a:r>
              <a:t>help teams deliver software faster, safer and more reliably.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800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691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